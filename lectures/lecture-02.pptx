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Agenda: quick Week 1 recap and where everyone is, a reminder on the PR workflow (the part that tripped people up), then the Week 2 assignment — deploy to Vercel, build a layout, and render an interactive Mapbox map with pins and popups.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constructive — the point is "here is your one next action," not grading. Everyone scaffolded a working Next.js app. Esther just needs a reviewer; Venessa committed to a branch but never opened the PR; Mythri hasn't shared a repo yet; Cato is furthest along and all his dependencies check out — just have him be ready to explain the AI-generated parts. If showing names to the whole group feels off, I can swap to an anonymized or counts-only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recurring gap from Week 1. Walk through it live once. Emphasize step 4: the PR only does its job when a reviewer is attached. From here on, every weekly assignment is delivered this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guide is week-02.md in the course repo. Make sure Week 1 is actually finished first — a deployed, reviewed app is the foundation. The next slides walk through each of the four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Esther's app is nested in a real-estate-map/ subfolder, so she specifically needs step 2 (Vercel Settings, Root Directory). Mention the env-var gotcha is coming on the map slides — the token has to be added to Vercel too, or the deployed map is blank.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just the structural shell. Students who did the Week 1 advanced layout task already have this. Cato has a full shadcn sidebar version. The content area is where MapView goes — and it must have a height, which is the next slide's gotcha.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Render MapView in the content area of the layout. The initial view is over Manhattan at zoom 15 — that matters later because the Week 4 parcel tiles only show at zoom 14 to 16. Walk through the three import gotchas on the next slide before they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Blank map is the number-one support question in Week 2, and it's almost always #4 (no parent height) locally or #5 (no token on Vercel) in production. Point these out before they start so the week goes smoothly.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stopPropagation tip saves the most common Week 2 head-scratcher after the blank map. The Marker and Popup API links are in week-02.md. This is as far as the required work goes.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Cato is already in advanced territory with his shadcn UI. For everyone else, layers are the most useful optional task because Week 4 builds directly on Source/Layer. Keep required work solid before stretching.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reinforcing the PR habit and the blank-map checklist. Offer one-on-one calls during the week for anyone stuck on deployment or the token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79550"/>
            <a:ext cx="10566400" cy="4165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79550"/>
            <a:ext cx="10566400" cy="4165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-9" r="-9" t="0" b="0"/>
          <a:stretch/>
        </p:blipFill>
        <p:spPr>
          <a:xfrm>
            <a:off x="7493000" y="0"/>
            <a:ext cx="4699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213935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0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SESSION 2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606675"/>
            <a:ext cx="6540500" cy="149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75"/>
              </a:lnSpc>
              <a:buNone/>
            </a:pPr>
            <a:r>
              <a:rPr lang="en-US" sz="5500" b="1" i="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a Map on the Screen</a:t>
            </a:r>
            <a:endParaRPr lang="en-US" sz="5500" dirty="0"/>
          </a:p>
        </p:txBody>
      </p:sp>
      <p:sp>
        <p:nvSpPr>
          <p:cNvPr id="5" name="Text 2"/>
          <p:cNvSpPr/>
          <p:nvPr/>
        </p:nvSpPr>
        <p:spPr>
          <a:xfrm>
            <a:off x="812800" y="4327525"/>
            <a:ext cx="588645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B9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Mapbox GL · react-map-gl · Vercel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12800" y="5963940"/>
            <a:ext cx="65405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9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Tuesday, October 6, 2026 · 3:00 PM ET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E6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REVIEW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everyone landed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35100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9150" y="1828750"/>
            <a:ext cx="0" cy="2145953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1943050"/>
          <a:ext cx="10299700" cy="1930053"/>
        </p:xfrm>
        <a:graphic>
          <a:graphicData uri="http://schemas.openxmlformats.org/drawingml/2006/table">
            <a:tbl>
              <a:tblPr/>
              <a:tblGrid>
                <a:gridCol w="2059940"/>
                <a:gridCol w="1441958"/>
                <a:gridCol w="1441958"/>
                <a:gridCol w="1441958"/>
                <a:gridCol w="3913886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31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31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Scaffold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31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31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 opened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31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31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31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31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5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next step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31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1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31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Esther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wwwaiser as PR reviewer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1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track — be ready to explain the AI code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6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Venessa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PR (setup to main) + reviewer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Mythri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320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 repo and scaffold the app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4228703"/>
            <a:ext cx="981075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work was solid across the board — the stumbles were all in the </a:t>
            </a:r>
            <a:r>
              <a: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 workflow</a:t>
            </a: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the app. That's the next slide.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E6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HABIT TO LOCK IN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goes through a pull request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55391"/>
            <a:ext cx="330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45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70000" y="1899841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52800" y="1828750"/>
            <a:ext cx="8026400" cy="408930"/>
          </a:xfrm>
          <a:prstGeom prst="roundRect">
            <a:avLst>
              <a:gd name="adj" fmla="val 12423"/>
            </a:avLst>
          </a:prstGeom>
          <a:solidFill>
            <a:srgbClr val="E8E6DE"/>
          </a:solidFill>
          <a:ln/>
        </p:spPr>
        <p:txBody>
          <a:bodyPr wrap="square" lIns="124821" tIns="74021" rIns="0" bIns="486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320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git checkout -b week-02-map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2365921"/>
            <a:ext cx="330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45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70000" y="2410371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52800" y="2339280"/>
            <a:ext cx="8026400" cy="408930"/>
          </a:xfrm>
          <a:prstGeom prst="roundRect">
            <a:avLst>
              <a:gd name="adj" fmla="val 12423"/>
            </a:avLst>
          </a:prstGeom>
          <a:solidFill>
            <a:srgbClr val="E8E6DE"/>
          </a:solidFill>
          <a:ln/>
        </p:spPr>
        <p:txBody>
          <a:bodyPr wrap="square" lIns="124821" tIns="74021" rIns="0" bIns="486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320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git commit -am "Add Mapbox map"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2876451"/>
            <a:ext cx="330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45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70000" y="2920901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52800" y="2849811"/>
            <a:ext cx="8026400" cy="408930"/>
          </a:xfrm>
          <a:prstGeom prst="roundRect">
            <a:avLst>
              <a:gd name="adj" fmla="val 12423"/>
            </a:avLst>
          </a:prstGeom>
          <a:solidFill>
            <a:srgbClr val="E8E6DE"/>
          </a:solidFill>
          <a:ln/>
        </p:spPr>
        <p:txBody>
          <a:bodyPr wrap="square" lIns="124821" tIns="74021" rIns="0" bIns="486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320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git push -u origin week-02-map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00" y="3360341"/>
            <a:ext cx="10566400" cy="787400"/>
          </a:xfrm>
          <a:prstGeom prst="roundRect">
            <a:avLst>
              <a:gd name="adj" fmla="val 9677"/>
            </a:avLst>
          </a:prstGeom>
          <a:solidFill>
            <a:srgbClr val="FCE3CC"/>
          </a:solidFill>
          <a:ln/>
        </p:spPr>
      </p:sp>
      <p:sp>
        <p:nvSpPr>
          <p:cNvPr id="14" name="Text 12"/>
          <p:cNvSpPr/>
          <p:nvPr/>
        </p:nvSpPr>
        <p:spPr>
          <a:xfrm>
            <a:off x="965200" y="3576241"/>
            <a:ext cx="330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45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22400" y="3487341"/>
            <a:ext cx="19621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PR + add a reviewer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05200" y="3505150"/>
            <a:ext cx="795324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GitHub: </a:t>
            </a:r>
            <a:r>
              <a:rPr lang="en-US" sz="1400" b="1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&amp; pull request</a:t>
            </a:r>
            <a:r>
              <a:rPr lang="en-US" sz="14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then add </a:t>
            </a:r>
            <a:r>
              <a:rPr lang="en-US" sz="1400" b="1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wwwaiser</a:t>
            </a:r>
            <a:r>
              <a:rPr lang="en-US" sz="14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reviewer. This is the step that got missed.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4401741"/>
            <a:ext cx="98107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commit straight to </a:t>
            </a:r>
            <a:r>
              <a: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 branch with no PR, or a PR with no reviewer, isn't finished work.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0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ASSIGNMENT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Mapbox GL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202431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9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tasks, due Monday, October 12 (evening)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4653359"/>
            <a:ext cx="2508250" cy="0"/>
          </a:xfrm>
          <a:prstGeom prst="line">
            <a:avLst/>
          </a:prstGeom>
          <a:noFill/>
          <a:ln w="25400">
            <a:solidFill>
              <a:srgbClr val="F091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4843859"/>
            <a:ext cx="258349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0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12800" y="5488980"/>
            <a:ext cx="258349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on Vercel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5831880"/>
            <a:ext cx="25834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live URL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98850" y="4653359"/>
            <a:ext cx="2508250" cy="0"/>
          </a:xfrm>
          <a:prstGeom prst="line">
            <a:avLst/>
          </a:prstGeom>
          <a:noFill/>
          <a:ln w="25400">
            <a:solidFill>
              <a:srgbClr val="F091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8850" y="4843859"/>
            <a:ext cx="258349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0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98850" y="5488980"/>
            <a:ext cx="258349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layout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98850" y="5831880"/>
            <a:ext cx="25834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Header, sidebar, content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4900" y="4653359"/>
            <a:ext cx="2508250" cy="0"/>
          </a:xfrm>
          <a:prstGeom prst="line">
            <a:avLst/>
          </a:prstGeom>
          <a:noFill/>
          <a:ln w="25400">
            <a:solidFill>
              <a:srgbClr val="F091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4900" y="4843859"/>
            <a:ext cx="258349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0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184900" y="5488980"/>
            <a:ext cx="258349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map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84900" y="5831880"/>
            <a:ext cx="25834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react-map-gl + Mapbox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70950" y="4653359"/>
            <a:ext cx="2508250" cy="0"/>
          </a:xfrm>
          <a:prstGeom prst="line">
            <a:avLst/>
          </a:prstGeom>
          <a:noFill/>
          <a:ln w="25400">
            <a:solidFill>
              <a:srgbClr val="F091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70950" y="4843859"/>
            <a:ext cx="258349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0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870950" y="5488980"/>
            <a:ext cx="258349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Pins and popups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70950" y="5831880"/>
            <a:ext cx="25834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Markers you can click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E6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on Vercel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79550"/>
            <a:ext cx="948372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is built for Next.js. Importing your repo gives you a live URL that redeploys on every push to main — so your project is shareable from week 2 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2756446"/>
            <a:ext cx="3380284" cy="1614091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6350">
            <a:solidFill>
              <a:srgbClr val="E1DE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" y="2988221"/>
            <a:ext cx="300423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C45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47750" y="3369221"/>
            <a:ext cx="300423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the repo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7750" y="3712121"/>
            <a:ext cx="300423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to Vercel with GitHub and import your real-estate-map repo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5809" y="2756446"/>
            <a:ext cx="3380333" cy="1614091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6350">
            <a:solidFill>
              <a:srgbClr val="E1DE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7584" y="2988221"/>
            <a:ext cx="300428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C45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37584" y="3369221"/>
            <a:ext cx="30042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root directory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7584" y="3712121"/>
            <a:ext cx="300428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app is in a subfolder, point Vercel at it — otherwise the build fails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95692" y="2756446"/>
            <a:ext cx="3380333" cy="1614091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6350">
            <a:solidFill>
              <a:srgbClr val="E1DE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7467" y="2988221"/>
            <a:ext cx="300428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C45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7467" y="3369221"/>
            <a:ext cx="30042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and open the URL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7467" y="3712121"/>
            <a:ext cx="30042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 live link in your repo README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9390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E6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385020"/>
            <a:ext cx="4709160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page layout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009850"/>
            <a:ext cx="470916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frame with Tailwind: a </a:t>
            </a: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</a:t>
            </a: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top, a </a:t>
            </a: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</a:t>
            </a: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property details later, and a </a:t>
            </a: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area</a:t>
            </a: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map. This is the shell every later week builds inside.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4330650"/>
            <a:ext cx="470916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to boxes and spacing for now — the map and data come next.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95975" y="1654175"/>
            <a:ext cx="5480050" cy="3549650"/>
          </a:xfrm>
          <a:prstGeom prst="roundRect">
            <a:avLst>
              <a:gd name="adj" fmla="val 2773"/>
            </a:avLst>
          </a:prstGeom>
          <a:solidFill>
            <a:srgbClr val="FFFFFF"/>
          </a:solidFill>
          <a:ln w="6350">
            <a:solidFill>
              <a:srgbClr val="E1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02350" y="1860550"/>
            <a:ext cx="5067300" cy="510530"/>
          </a:xfrm>
          <a:prstGeom prst="roundRect">
            <a:avLst>
              <a:gd name="adj" fmla="val 12438"/>
            </a:avLst>
          </a:prstGeom>
          <a:solidFill>
            <a:srgbClr val="13203A"/>
          </a:solidFill>
          <a:ln/>
        </p:spPr>
        <p:txBody>
          <a:bodyPr wrap="square" lIns="146501" tIns="121101" rIns="4388" bIns="9570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02350" y="2472680"/>
            <a:ext cx="1460500" cy="2524770"/>
          </a:xfrm>
          <a:prstGeom prst="roundRect">
            <a:avLst>
              <a:gd name="adj" fmla="val 4348"/>
            </a:avLst>
          </a:prstGeom>
          <a:solidFill>
            <a:srgbClr val="E8E6DE"/>
          </a:solidFill>
          <a:ln/>
        </p:spPr>
        <p:txBody>
          <a:bodyPr wrap="square" lIns="121101" tIns="121101" rIns="70301" bIns="12110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64450" y="2472680"/>
            <a:ext cx="3505200" cy="2524770"/>
          </a:xfrm>
          <a:prstGeom prst="roundRect">
            <a:avLst>
              <a:gd name="adj" fmla="val 2515"/>
            </a:avLst>
          </a:prstGeom>
          <a:solidFill>
            <a:srgbClr val="DCE6F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E6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/ content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E6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map with react-map-gl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350"/>
            <a:ext cx="40551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45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both packages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2097980"/>
            <a:ext cx="3937000" cy="467320"/>
          </a:xfrm>
          <a:prstGeom prst="roundRect">
            <a:avLst>
              <a:gd name="adj" fmla="val 13588"/>
            </a:avLst>
          </a:prstGeom>
          <a:solidFill>
            <a:srgbClr val="13203A"/>
          </a:solidFill>
          <a:ln/>
        </p:spPr>
        <p:txBody>
          <a:bodyPr wrap="square" lIns="133801" tIns="108401" rIns="24835" bIns="8300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F5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npm install react-map-gl mapbox-gl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717701"/>
            <a:ext cx="40551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45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token to .env.local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3012331"/>
            <a:ext cx="3937000" cy="449560"/>
          </a:xfrm>
          <a:prstGeom prst="roundRect">
            <a:avLst>
              <a:gd name="adj" fmla="val 14125"/>
            </a:avLst>
          </a:prstGeom>
          <a:solidFill>
            <a:srgbClr val="13203A"/>
          </a:solidFill>
          <a:ln/>
        </p:spPr>
        <p:txBody>
          <a:bodyPr wrap="square" lIns="133801" tIns="108401" rIns="24835" bIns="83001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6F5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NEXT_PUBLIC_MAPBOX_TOKEN=pk...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2800" y="3525391"/>
            <a:ext cx="40551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in .gitignore — never commit it. A shared token is in the Week 2 guide.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03800" y="1803350"/>
            <a:ext cx="656666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45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components/MapView.tsx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03800" y="2097980"/>
            <a:ext cx="6375400" cy="3611563"/>
          </a:xfrm>
          <a:prstGeom prst="roundRect">
            <a:avLst>
              <a:gd name="adj" fmla="val 1758"/>
            </a:avLst>
          </a:prstGeom>
          <a:solidFill>
            <a:srgbClr val="13203A"/>
          </a:solidFill>
          <a:ln/>
        </p:spPr>
        <p:txBody>
          <a:bodyPr wrap="square" lIns="146501" tIns="133801" rIns="0" bIns="108401" rtlCol="0" anchor="t">
            <a:normAutofit/>
          </a:bodyPr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'use client';</a:t>
            </a:r>
            <a:endParaRPr lang="en-US" sz="1050" dirty="0"/>
          </a:p>
          <a:p>
            <a:pPr algn="l" indent="0" marL="0">
              <a:lnSpc>
                <a:spcPts val="1628"/>
              </a:lnSpc>
              <a:buNone/>
            </a:pPr>
            <a:endParaRPr lang="en-US" sz="1050" dirty="0"/>
          </a:p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import Map from 'react-map-gl/mapbox';</a:t>
            </a:r>
            <a:endParaRPr lang="en-US" sz="1050" dirty="0"/>
          </a:p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import 'mapbox-gl/dist/mapbox-gl.css';</a:t>
            </a:r>
            <a:endParaRPr lang="en-US" sz="1050" dirty="0"/>
          </a:p>
          <a:p>
            <a:pPr algn="l" indent="0" marL="0">
              <a:lnSpc>
                <a:spcPts val="1628"/>
              </a:lnSpc>
              <a:buNone/>
            </a:pPr>
            <a:endParaRPr lang="en-US" sz="1050" dirty="0"/>
          </a:p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export default function MapView() {</a:t>
            </a:r>
            <a:endParaRPr lang="en-US" sz="1050" dirty="0"/>
          </a:p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return (</a:t>
            </a:r>
            <a:endParaRPr lang="en-US" sz="1050" dirty="0"/>
          </a:p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&lt;Map</a:t>
            </a:r>
            <a:endParaRPr lang="en-US" sz="1050" dirty="0"/>
          </a:p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mapboxAccessToken={process.env.NEXT_PUBLIC_MAPBOX_TOKEN}</a:t>
            </a:r>
            <a:endParaRPr lang="en-US" sz="1050" dirty="0"/>
          </a:p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initialViewState={{ latitude: 40.7484, longitude: -73.9857, zoom: 15 }}</a:t>
            </a:r>
            <a:endParaRPr lang="en-US" sz="1050" dirty="0"/>
          </a:p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mapStyle="mapbox://styles/mapbox/streets-v12"</a:t>
            </a:r>
            <a:endParaRPr lang="en-US" sz="1050" dirty="0"/>
          </a:p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style={{ width: '100%', height: '100%' }}</a:t>
            </a:r>
            <a:endParaRPr lang="en-US" sz="1050" dirty="0"/>
          </a:p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/&gt;</a:t>
            </a:r>
            <a:endParaRPr lang="en-US" sz="1050" dirty="0"/>
          </a:p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);</a:t>
            </a:r>
            <a:endParaRPr lang="en-US" sz="1050" dirty="0"/>
          </a:p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F6F5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0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THIS BEFORE YOU START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things that trip people up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8800"/>
            <a:ext cx="304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19200" y="1854200"/>
            <a:ext cx="10464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from </a:t>
            </a:r>
            <a:r>
              <a:rPr lang="en-US" sz="1400" b="1" dirty="0">
                <a:solidFill>
                  <a:srgbClr val="F0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react-map-gl/mapbox</a:t>
            </a:r>
            <a:r>
              <a:rPr lang="en-US" sz="140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plain </a:t>
            </a:r>
            <a:r>
              <a:rPr lang="en-US" sz="1400" dirty="0">
                <a:solidFill>
                  <a:srgbClr val="B9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react-map-gl</a:t>
            </a:r>
            <a:r>
              <a:rPr lang="en-US" sz="140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import doesn't exist in v8. Use the </a:t>
            </a:r>
            <a:r>
              <a:rPr lang="en-US" sz="1400" dirty="0">
                <a:solidFill>
                  <a:srgbClr val="B9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/mapbox</a:t>
            </a:r>
            <a:r>
              <a:rPr lang="en-US" sz="140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subpath.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240260"/>
            <a:ext cx="304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9200" y="2265660"/>
            <a:ext cx="10464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the CSS:</a:t>
            </a:r>
            <a:r>
              <a:rPr lang="en-US" sz="140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B9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mapbox-gl/dist/mapbox-gl.css</a:t>
            </a:r>
            <a:r>
              <a:rPr lang="en-US" sz="140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Skip it and markers, popups and controls land in the wrong place.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2651720"/>
            <a:ext cx="304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2677120"/>
            <a:ext cx="10464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file with </a:t>
            </a:r>
            <a:r>
              <a:rPr lang="en-US" sz="1400" b="1" dirty="0">
                <a:solidFill>
                  <a:srgbClr val="F0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'use client'</a:t>
            </a:r>
            <a:r>
              <a:rPr lang="en-US" sz="140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map is interactive, so it can't be a server component.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3063180"/>
            <a:ext cx="304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19200" y="3088580"/>
            <a:ext cx="1046480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parent needs a height.</a:t>
            </a:r>
            <a:r>
              <a:rPr lang="en-US" sz="140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map fills its container; with no height (e.g. h-screen or flex-1) it's 0px tall and the page looks blank.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713361"/>
            <a:ext cx="304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19200" y="3738761"/>
            <a:ext cx="1046480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token to Vercel too.</a:t>
            </a:r>
            <a:r>
              <a:rPr lang="en-US" sz="140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.env.local isn't uploaded — set NEXT_PUBLIC_MAPBOX_TOKEN in Vercel's Environment Variables and redeploy, or the live map is blank.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E6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Pins and popups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3350"/>
            <a:ext cx="98107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</a:t>
            </a:r>
            <a:r>
              <a: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</a:t>
            </a: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Popup</a:t>
            </a: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components as children of </a:t>
            </a:r>
            <a:r>
              <a:rPr lang="en-US" sz="16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&lt;Map&gt;</a:t>
            </a: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Put a few sample markers on the map; clicking one opens a popup with its info.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2604046"/>
            <a:ext cx="5175250" cy="1292771"/>
          </a:xfrm>
          <a:prstGeom prst="roundRect">
            <a:avLst>
              <a:gd name="adj" fmla="val 7613"/>
            </a:avLst>
          </a:prstGeom>
          <a:solidFill>
            <a:srgbClr val="FFFFFF"/>
          </a:solidFill>
          <a:ln w="6350">
            <a:solidFill>
              <a:srgbClr val="E1DE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" y="2835821"/>
            <a:ext cx="4853051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3186311"/>
            <a:ext cx="4940300" cy="264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a pin at a latitude/longitude. Give it an onClick to select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00775" y="2604046"/>
            <a:ext cx="5175250" cy="1292771"/>
          </a:xfrm>
          <a:prstGeom prst="roundRect">
            <a:avLst>
              <a:gd name="adj" fmla="val 7613"/>
            </a:avLst>
          </a:prstGeom>
          <a:solidFill>
            <a:srgbClr val="FFFFFF"/>
          </a:solidFill>
          <a:ln w="6350">
            <a:solidFill>
              <a:srgbClr val="E1DE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2550" y="2835821"/>
            <a:ext cx="4853051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32550" y="3186311"/>
            <a:ext cx="4853051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 small card at that point with the marker's details when it's selected.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800" y="4128591"/>
            <a:ext cx="10566400" cy="871141"/>
          </a:xfrm>
          <a:prstGeom prst="roundRect">
            <a:avLst>
              <a:gd name="adj" fmla="val 10205"/>
            </a:avLst>
          </a:prstGeom>
          <a:solidFill>
            <a:srgbClr val="FCE3CC"/>
          </a:solidFill>
          <a:ln/>
        </p:spPr>
      </p:sp>
      <p:pic>
        <p:nvPicPr>
          <p:cNvPr id="12" name="Image 0" descr="Lightbulb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6000" y="4306391"/>
            <a:ext cx="254000" cy="254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97000" y="4306391"/>
            <a:ext cx="1007237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popup-won't-stay-open trap:</a:t>
            </a:r>
            <a:r>
              <a:rPr lang="en-US" sz="140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marker's onClick, call e.originalEvent.stopPropagation(). Otherwise the click also hits the map and immediately closes the popup you just opened.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E6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FINISH EARLY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and advanced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31925"/>
            <a:ext cx="5175250" cy="1714401"/>
          </a:xfrm>
          <a:prstGeom prst="roundRect">
            <a:avLst>
              <a:gd name="adj" fmla="val 5741"/>
            </a:avLst>
          </a:prstGeom>
          <a:solidFill>
            <a:srgbClr val="FFFFFF"/>
          </a:solidFill>
          <a:ln w="6350">
            <a:solidFill>
              <a:srgbClr val="E1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089100"/>
            <a:ext cx="48007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E6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404021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with layers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3150" y="2810421"/>
            <a:ext cx="4800727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Source and Layer components with GeoJSON data. This is the groundwork for the parcel layer in Week 4.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00775" y="1831925"/>
            <a:ext cx="5175250" cy="1714401"/>
          </a:xfrm>
          <a:prstGeom prst="roundRect">
            <a:avLst>
              <a:gd name="adj" fmla="val 5741"/>
            </a:avLst>
          </a:prstGeom>
          <a:solidFill>
            <a:srgbClr val="FFFFFF"/>
          </a:solidFill>
          <a:ln w="6350">
            <a:solidFill>
              <a:srgbClr val="E1DE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7950" y="2089100"/>
            <a:ext cx="48007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45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57950" y="2404021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Richer map features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57950" y="2810421"/>
            <a:ext cx="4800727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controls (zoom/rotate), custom-styled or draggable markers, dynamic data.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3803501"/>
            <a:ext cx="981075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for all of these are in the Advanced Tasks section of </a:t>
            </a:r>
            <a:r>
              <a: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week-02.md</a:t>
            </a: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Do the required four first — don't skip ahead on a shaky foundation.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812800" y="3079800"/>
            <a:ext cx="3318917" cy="0"/>
          </a:xfrm>
          <a:prstGeom prst="line">
            <a:avLst/>
          </a:prstGeom>
          <a:noFill/>
          <a:ln w="25400">
            <a:solidFill>
              <a:srgbClr val="F091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800" y="3295700"/>
            <a:ext cx="3418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0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GUIDE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3559820"/>
            <a:ext cx="341848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week-02.md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course repo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36517" y="3079800"/>
            <a:ext cx="3318966" cy="0"/>
          </a:xfrm>
          <a:prstGeom prst="line">
            <a:avLst/>
          </a:prstGeom>
          <a:noFill/>
          <a:ln w="25400">
            <a:solidFill>
              <a:srgbClr val="F091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6517" y="3295700"/>
            <a:ext cx="34185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0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DUE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6517" y="3559820"/>
            <a:ext cx="341853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Monday, October 12,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evening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60283" y="3079800"/>
            <a:ext cx="3318917" cy="0"/>
          </a:xfrm>
          <a:prstGeom prst="line">
            <a:avLst/>
          </a:prstGeom>
          <a:noFill/>
          <a:ln w="25400">
            <a:solidFill>
              <a:srgbClr val="F091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60283" y="3295700"/>
            <a:ext cx="3418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0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60283" y="3559820"/>
            <a:ext cx="341848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Tuesday, October 13,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6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3:00 PM 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5547420"/>
            <a:ext cx="981075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it as a pull request on a </a:t>
            </a:r>
            <a:r>
              <a:rPr lang="en-US" sz="1400" b="1" dirty="0">
                <a:solidFill>
                  <a:srgbClr val="B9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week-02-map</a:t>
            </a:r>
            <a:r>
              <a:rPr lang="en-US" sz="1400" dirty="0">
                <a:solidFill>
                  <a:srgbClr val="B9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branch, with wwwaiser as reviewer. Blank map? Check the five gotchas first, then reach out.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al Estate Map — Lecture 2">
  <a:themeElements>
    <a:clrScheme name="Real Estate Map — Lecture 2">
      <a:dk1>
        <a:srgbClr val="13203A"/>
      </a:dk1>
      <a:lt1>
        <a:srgbClr val="F6F5F0"/>
      </a:lt1>
      <a:dk2>
        <a:srgbClr val="4C5568"/>
      </a:dk2>
      <a:lt2>
        <a:srgbClr val="DFE0DE"/>
      </a:lt2>
      <a:accent1>
        <a:srgbClr val="F0913F"/>
      </a:accent1>
      <a:accent2>
        <a:srgbClr val="C4570F"/>
      </a:accent2>
      <a:accent3>
        <a:srgbClr val="2E62D9"/>
      </a:accent3>
      <a:accent4>
        <a:srgbClr val="FCE3CC"/>
      </a:accent4>
      <a:accent5>
        <a:srgbClr val="4A5568"/>
      </a:accent5>
      <a:accent6>
        <a:srgbClr val="B9C4D6"/>
      </a:accent6>
      <a:hlink>
        <a:srgbClr val="0563C1"/>
      </a:hlink>
      <a:folHlink>
        <a:srgbClr val="954F72"/>
      </a:folHlink>
    </a:clrScheme>
    <a:fontScheme name="Real Estate Map — Lecture 2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Map — Lecture 2</dc:title>
  <dc:subject/>
  <dc:creator/>
  <cp:lastModifiedBy/>
  <cp:revision>1</cp:revision>
  <dcterms:created xsi:type="dcterms:W3CDTF">2026-10-06T17:22:29Z</dcterms:created>
  <dcterms:modified xsi:type="dcterms:W3CDTF">2026-10-06T17:22:29Z</dcterms:modified>
</cp:coreProperties>
</file>